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75320" y="0"/>
            <a:ext cx="3922776" cy="6858000"/>
          </a:xfrm>
          <a:prstGeom prst="rect">
            <a:avLst/>
          </a:prstGeom>
          <a:solidFill>
            <a:srgbClr val="0D9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75320" y="0"/>
            <a:ext cx="128016" cy="6858000"/>
          </a:xfrm>
          <a:prstGeom prst="rect">
            <a:avLst/>
          </a:prstGeom>
          <a:solidFill>
            <a:srgbClr val="076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58368"/>
            <a:ext cx="1297533" cy="310896"/>
          </a:xfrm>
          <a:prstGeom prst="roundRect">
            <a:avLst>
              <a:gd name="adj" fmla="val 50000"/>
            </a:avLst>
          </a:prstGeom>
          <a:solidFill>
            <a:srgbClr val="0D9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76656"/>
            <a:ext cx="129753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HR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7315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>
                <a:solidFill>
                  <a:srgbClr val="2B3748"/>
                </a:solidFill>
                <a:latin typeface="Malgun Gothic"/>
              </a:rPr>
              <a:t>문제를 구조로 바꾸고,</a:t>
            </a:r>
          </a:p>
          <a:p>
            <a:pPr algn="l">
              <a:lnSpc>
                <a:spcPct val="104000"/>
              </a:lnSpc>
            </a:pPr>
            <a:r>
              <a:rPr sz="3300" b="1">
                <a:solidFill>
                  <a:srgbClr val="2B3748"/>
                </a:solidFill>
                <a:latin typeface="Malgun Gothic"/>
              </a:rPr>
              <a:t>운영이 흔들리지 않게 만드는</a:t>
            </a:r>
          </a:p>
          <a:p>
            <a:pPr algn="l">
              <a:lnSpc>
                <a:spcPct val="104000"/>
              </a:lnSpc>
            </a:pPr>
            <a:r>
              <a:rPr sz="3300" b="1">
                <a:solidFill>
                  <a:srgbClr val="2B3748"/>
                </a:solidFill>
                <a:latin typeface="Malgun Gothic"/>
              </a:rPr>
              <a:t>HR Generalist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4078224"/>
            <a:ext cx="713232" cy="54864"/>
          </a:xfrm>
          <a:prstGeom prst="rect">
            <a:avLst/>
          </a:prstGeom>
          <a:solidFill>
            <a:srgbClr val="0D9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4261104"/>
            <a:ext cx="7040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4748B"/>
                </a:solidFill>
                <a:latin typeface="Malgun Gothic"/>
              </a:rPr>
              <a:t>채용·근태·총무·컴플라이언스·자동화를 연결해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64748B"/>
                </a:solidFill>
                <a:latin typeface="Malgun Gothic"/>
              </a:rPr>
              <a:t>안정적인 운영을 만듭니다.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5440680"/>
            <a:ext cx="338328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5ED"/>
            </a:solidFill>
          </a:ln>
          <a:effectLst>
            <a:outerShdw blurRad="90000" dist="34000" dir="5400000" rotWithShape="0">
              <a:srgbClr val="8FA3B8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5605272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2B3748"/>
                </a:solidFill>
                <a:latin typeface="Malgun Gothic"/>
              </a:rPr>
              <a:t>성명재   |   HR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7132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FECF4"/>
                </a:solidFill>
                <a:latin typeface="Malgun Gothic"/>
              </a:rPr>
              <a:t>핵심 운영 성과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1243584"/>
            <a:ext cx="3108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Malgun Gothic"/>
              </a:rPr>
              <a:t>−85%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0808" y="1755648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FECF4"/>
                </a:solidFill>
                <a:latin typeface="Malgun Gothic"/>
              </a:rPr>
              <a:t>수기 정정 오류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2176272"/>
            <a:ext cx="3108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Malgun Gothic"/>
              </a:rPr>
              <a:t>+217%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0808" y="2688336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FECF4"/>
                </a:solidFill>
                <a:latin typeface="Malgun Gothic"/>
              </a:rPr>
              <a:t>생산직 지원자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108960"/>
            <a:ext cx="3108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Malgun Gothic"/>
              </a:rPr>
              <a:t>0건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0808" y="3621024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FECF4"/>
                </a:solidFill>
                <a:latin typeface="Malgun Gothic"/>
              </a:rPr>
              <a:t>52시간 위반 클레임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4526280"/>
            <a:ext cx="173736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90000" dist="34000" dir="5400000" rotWithShape="0">
              <a:srgbClr val="8FA3B8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qr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848" y="4736592"/>
            <a:ext cx="1060704" cy="10607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705088" y="5925312"/>
            <a:ext cx="17922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B3748"/>
                </a:solidFill>
                <a:latin typeface="Malgun Gothic"/>
              </a:rPr>
              <a:t>공개 AI 증거 페이지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73952"/>
            <a:ext cx="11064240" cy="101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5624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Malgun Gothic"/>
              </a:rPr>
              <a:t>Conversation deck · evidence-linked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57200"/>
            <a:ext cx="1601114" cy="310896"/>
          </a:xfrm>
          <a:prstGeom prst="roundRect">
            <a:avLst>
              <a:gd name="adj" fmla="val 50000"/>
            </a:avLst>
          </a:prstGeom>
          <a:solidFill>
            <a:srgbClr val="0D9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60111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WHY THIS MATERIAL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50976"/>
            <a:ext cx="91440" cy="475488"/>
          </a:xfrm>
          <a:prstGeom prst="rect">
            <a:avLst/>
          </a:prstGeom>
          <a:solidFill>
            <a:srgbClr val="0D9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950976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B3748"/>
                </a:solidFill>
                <a:latin typeface="Malgun Gothic"/>
              </a:rPr>
              <a:t>오늘은 자동화 자랑이 아니라, 운영의 빈틈을 어떻게 메우는지 보여드립니다.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49377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algun Gothic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64240" cy="1270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057400"/>
            <a:ext cx="4800600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D"/>
            </a:solidFill>
          </a:ln>
          <a:effectLst>
            <a:outerShdw blurRad="90000" dist="34000" dir="5400000" rotWithShape="0">
              <a:srgbClr val="8FA3B8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057400"/>
            <a:ext cx="109728" cy="2240280"/>
          </a:xfrm>
          <a:prstGeom prst="rect">
            <a:avLst/>
          </a:prstGeom>
          <a:solidFill>
            <a:srgbClr val="0D9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3317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7647E"/>
                </a:solidFill>
                <a:latin typeface="Malgun Gothic"/>
              </a:rPr>
              <a:t>회사 요청 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72491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2B3748"/>
                </a:solidFill>
                <a:latin typeface="Malgun Gothic"/>
              </a:rPr>
              <a:t>자동화·효율화 사례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10128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Malgun Gothic"/>
              </a:rPr>
              <a:t>반복 행정과 휴먼에러를 줄인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Malgun Gothic"/>
              </a:rPr>
              <a:t>운영 구조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057400"/>
            <a:ext cx="4800600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D"/>
            </a:solidFill>
          </a:ln>
          <a:effectLst>
            <a:outerShdw blurRad="90000" dist="34000" dir="5400000" rotWithShape="0">
              <a:srgbClr val="8FA3B8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2057400"/>
            <a:ext cx="109728" cy="2240280"/>
          </a:xfrm>
          <a:prstGeom prst="rect">
            <a:avLst/>
          </a:prstGeom>
          <a:solidFill>
            <a:srgbClr val="0D9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3317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7647E"/>
                </a:solidFill>
                <a:latin typeface="Malgun Gothic"/>
              </a:rPr>
              <a:t>회사 요청 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72491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2B3748"/>
                </a:solidFill>
                <a:latin typeface="Malgun Gothic"/>
              </a:rPr>
              <a:t>강조하고 싶은 기획 경험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310128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Malgun Gothic"/>
              </a:rPr>
              <a:t>없는 절차를 세우고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Malgun Gothic"/>
              </a:rPr>
              <a:t>사람이 정착하도록 만든 경험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4937760"/>
            <a:ext cx="8321040" cy="749808"/>
          </a:xfrm>
          <a:prstGeom prst="roundRect">
            <a:avLst>
              <a:gd name="adj" fmla="val 50000"/>
            </a:avLst>
          </a:prstGeom>
          <a:solidFill>
            <a:srgbClr val="E6F4F8"/>
          </a:solidFill>
          <a:ln w="9525">
            <a:solidFill>
              <a:srgbClr val="A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5120640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07647E"/>
                </a:solidFill>
                <a:latin typeface="Malgun Gothic"/>
              </a:rPr>
              <a:t>공통 프레임:  문제  →  구조  →  결과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473952"/>
            <a:ext cx="11064240" cy="101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55624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Malgun Gothic"/>
              </a:rPr>
              <a:t>Interview deck · editable PPTX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57200"/>
            <a:ext cx="1449324" cy="310896"/>
          </a:xfrm>
          <a:prstGeom prst="roundRect">
            <a:avLst>
              <a:gd name="adj" fmla="val 50000"/>
            </a:avLst>
          </a:prstGeom>
          <a:solidFill>
            <a:srgbClr val="0D9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44932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OPERATING RANGE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50976"/>
            <a:ext cx="91440" cy="475488"/>
          </a:xfrm>
          <a:prstGeom prst="rect">
            <a:avLst/>
          </a:prstGeom>
          <a:solidFill>
            <a:srgbClr val="0D9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950976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B3748"/>
                </a:solidFill>
                <a:latin typeface="Malgun Gothic"/>
              </a:rPr>
              <a:t>흩어진 일을 한 사람이 연결하면, 회사가 흔들리지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49377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algun Gothic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64240" cy="1270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2240280"/>
            <a:ext cx="1463040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D"/>
            </a:solidFill>
          </a:ln>
          <a:effectLst>
            <a:outerShdw blurRad="90000" dist="34000" dir="5400000" rotWithShape="0">
              <a:srgbClr val="8FA3B8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2402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B3748"/>
                </a:solidFill>
                <a:latin typeface="Malgun Gothic"/>
              </a:rPr>
              <a:t>채용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6272" y="2697480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7647E"/>
                </a:solidFill>
                <a:latin typeface="Malgun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2240280"/>
            <a:ext cx="1463040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D"/>
            </a:solidFill>
          </a:ln>
          <a:effectLst>
            <a:outerShdw blurRad="90000" dist="34000" dir="5400000" rotWithShape="0">
              <a:srgbClr val="8FA3B8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402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B3748"/>
                </a:solidFill>
                <a:latin typeface="Malgun Gothic"/>
              </a:rPr>
              <a:t>근태·근로시간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3904" y="2697480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7647E"/>
                </a:solidFill>
                <a:latin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05072" y="2240280"/>
            <a:ext cx="1463040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D"/>
            </a:solidFill>
          </a:ln>
          <a:effectLst>
            <a:outerShdw blurRad="90000" dist="34000" dir="5400000" rotWithShape="0">
              <a:srgbClr val="8FA3B8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6511" y="22402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B3748"/>
                </a:solidFill>
                <a:latin typeface="Malgun Gothic"/>
              </a:rPr>
              <a:t>도급·파견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31536" y="2697480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7647E"/>
                </a:solidFill>
                <a:latin typeface="Malgun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32704" y="2240280"/>
            <a:ext cx="1463040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D"/>
            </a:solidFill>
          </a:ln>
          <a:effectLst>
            <a:outerShdw blurRad="90000" dist="34000" dir="5400000" rotWithShape="0">
              <a:srgbClr val="8FA3B8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24144" y="22402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B3748"/>
                </a:solidFill>
                <a:latin typeface="Malgun Gothic"/>
              </a:rPr>
              <a:t>급여·지원금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2697480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7647E"/>
                </a:solidFill>
                <a:latin typeface="Malgun Gothi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0336" y="2240280"/>
            <a:ext cx="1463040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D"/>
            </a:solidFill>
          </a:ln>
          <a:effectLst>
            <a:outerShdw blurRad="90000" dist="34000" dir="5400000" rotWithShape="0">
              <a:srgbClr val="8FA3B8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51776" y="22402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B3748"/>
                </a:solidFill>
                <a:latin typeface="Malgun Gothic"/>
              </a:rPr>
              <a:t>노무·감사</a:t>
            </a:r>
          </a:p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B3748"/>
                </a:solidFill>
                <a:latin typeface="Malgun Gothic"/>
              </a:rPr>
              <a:t>컴플라이언스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697480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7647E"/>
                </a:solidFill>
                <a:latin typeface="Malgun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87968" y="2240280"/>
            <a:ext cx="1463040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D"/>
            </a:solidFill>
          </a:ln>
          <a:effectLst>
            <a:outerShdw blurRad="90000" dist="34000" dir="5400000" rotWithShape="0">
              <a:srgbClr val="8FA3B8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79408" y="22402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B3748"/>
                </a:solidFill>
                <a:latin typeface="Malgun Gothic"/>
              </a:rPr>
              <a:t>총무·이벤트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14432" y="2697480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7647E"/>
                </a:solidFill>
                <a:latin typeface="Malgun Gothic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0" y="2240280"/>
            <a:ext cx="1463040" cy="1280160"/>
          </a:xfrm>
          <a:prstGeom prst="roundRect">
            <a:avLst>
              <a:gd name="adj" fmla="val 7000"/>
            </a:avLst>
          </a:prstGeom>
          <a:solidFill>
            <a:srgbClr val="0D9ABF"/>
          </a:solidFill>
          <a:ln w="9525">
            <a:solidFill>
              <a:srgbClr val="0D9ABF"/>
            </a:solidFill>
          </a:ln>
          <a:effectLst>
            <a:outerShdw blurRad="90000" dist="34000" dir="5400000" rotWithShape="0">
              <a:srgbClr val="8FA3B8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07040" y="22402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algun Gothic"/>
              </a:rPr>
              <a:t>자동화</a:t>
            </a:r>
          </a:p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algun Gothic"/>
              </a:rPr>
              <a:t>(운영 인프라)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80160" y="4434840"/>
            <a:ext cx="9646920" cy="868680"/>
          </a:xfrm>
          <a:prstGeom prst="roundRect">
            <a:avLst>
              <a:gd name="adj" fmla="val 7000"/>
            </a:avLst>
          </a:prstGeom>
          <a:solidFill>
            <a:srgbClr val="E6F4F8"/>
          </a:solidFill>
          <a:ln w="9525">
            <a:solidFill>
              <a:srgbClr val="A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54480" y="4681728"/>
            <a:ext cx="9098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7647E"/>
                </a:solidFill>
                <a:latin typeface="Malgun Gothic"/>
              </a:rPr>
              <a:t>자동화는 별도 영역이 아니라, 앞의 업무들이 흔들리지 않게 받치는 운영 인프라입니다.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473952"/>
            <a:ext cx="11064240" cy="101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655624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Malgun Gothic"/>
              </a:rPr>
              <a:t>Interview deck · editable PPTX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57200"/>
            <a:ext cx="1601114" cy="310896"/>
          </a:xfrm>
          <a:prstGeom prst="roundRect">
            <a:avLst>
              <a:gd name="adj" fmla="val 50000"/>
            </a:avLst>
          </a:prstGeom>
          <a:solidFill>
            <a:srgbClr val="0D9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60111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MEASURED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50976"/>
            <a:ext cx="91440" cy="475488"/>
          </a:xfrm>
          <a:prstGeom prst="rect">
            <a:avLst/>
          </a:prstGeom>
          <a:solidFill>
            <a:srgbClr val="0D9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950976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B3748"/>
                </a:solidFill>
                <a:latin typeface="Malgun Gothic"/>
              </a:rPr>
              <a:t>도구 화면이 아니라, 운영 결과입니다.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49377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algun Gothic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64240" cy="1270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874519"/>
            <a:ext cx="5138928" cy="17922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D"/>
            </a:solidFill>
          </a:ln>
          <a:effectLst>
            <a:outerShdw blurRad="90000" dist="34000" dir="5400000" rotWithShape="0">
              <a:srgbClr val="8FA3B8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874519"/>
            <a:ext cx="118872" cy="1792224"/>
          </a:xfrm>
          <a:prstGeom prst="rect">
            <a:avLst/>
          </a:prstGeom>
          <a:solidFill>
            <a:srgbClr val="0D9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2148839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Malgun Gothic"/>
              </a:rPr>
              <a:t>수기 정정 오류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2459736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D9ABF"/>
                </a:solidFill>
                <a:latin typeface="Malgun Gothic"/>
              </a:rPr>
              <a:t>−85%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172968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B3748"/>
                </a:solidFill>
                <a:latin typeface="Malgun Gothic"/>
              </a:rPr>
              <a:t>월 100건 → 15건  (3개월 평균)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1874519"/>
            <a:ext cx="5138928" cy="17922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D"/>
            </a:solidFill>
          </a:ln>
          <a:effectLst>
            <a:outerShdw blurRad="90000" dist="34000" dir="5400000" rotWithShape="0">
              <a:srgbClr val="8FA3B8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72784" y="1874519"/>
            <a:ext cx="118872" cy="1792224"/>
          </a:xfrm>
          <a:prstGeom prst="rect">
            <a:avLst/>
          </a:prstGeom>
          <a:solidFill>
            <a:srgbClr val="158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2" y="2148839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Malgun Gothic"/>
              </a:rPr>
              <a:t>52시간 위반 클레임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2459736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58B62"/>
                </a:solidFill>
                <a:latin typeface="Malgun Gothic"/>
              </a:rPr>
              <a:t>0건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3172968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B3748"/>
                </a:solidFill>
                <a:latin typeface="Malgun Gothic"/>
              </a:rPr>
              <a:t>초과예상 144명 → 21명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2B3748"/>
                </a:solidFill>
                <a:latin typeface="Malgun Gothic"/>
              </a:rPr>
              <a:t>특별연장근로 2건 → 0건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4114800"/>
            <a:ext cx="5138928" cy="17922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D"/>
            </a:solidFill>
          </a:ln>
          <a:effectLst>
            <a:outerShdw blurRad="90000" dist="34000" dir="5400000" rotWithShape="0">
              <a:srgbClr val="8FA3B8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4114800"/>
            <a:ext cx="118872" cy="1792224"/>
          </a:xfrm>
          <a:prstGeom prst="rect">
            <a:avLst/>
          </a:prstGeom>
          <a:solidFill>
            <a:srgbClr val="0D9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43891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Malgun Gothic"/>
              </a:rPr>
              <a:t>생산직 지원자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4700016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D9ABF"/>
                </a:solidFill>
                <a:latin typeface="Malgun Gothic"/>
              </a:rPr>
              <a:t>+217%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5413248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B3748"/>
                </a:solidFill>
                <a:latin typeface="Malgun Gothic"/>
              </a:rPr>
              <a:t>공고당 평균 35명 → 111명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2784" y="4114800"/>
            <a:ext cx="5138928" cy="17922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D"/>
            </a:solidFill>
          </a:ln>
          <a:effectLst>
            <a:outerShdw blurRad="90000" dist="34000" dir="5400000" rotWithShape="0">
              <a:srgbClr val="8FA3B8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72784" y="4114800"/>
            <a:ext cx="118872" cy="1792224"/>
          </a:xfrm>
          <a:prstGeom prst="rect">
            <a:avLst/>
          </a:prstGeom>
          <a:solidFill>
            <a:srgbClr val="0D9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43891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Malgun Gothic"/>
              </a:rPr>
              <a:t>태깅 인식률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6832" y="4700016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D9ABF"/>
                </a:solidFill>
                <a:latin typeface="Malgun Gothic"/>
              </a:rPr>
              <a:t>+12%p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2" y="5413248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B3748"/>
                </a:solidFill>
                <a:latin typeface="Malgun Gothic"/>
              </a:rPr>
              <a:t>73% → 85%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605332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</a:rPr>
              <a:t>보조 지표 · ATS 전체 지원자 +27%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473952"/>
            <a:ext cx="11064240" cy="101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655624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Malgun Gothic"/>
              </a:rPr>
              <a:t>Interview deck · editable PPTX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57200"/>
            <a:ext cx="1601114" cy="310896"/>
          </a:xfrm>
          <a:prstGeom prst="roundRect">
            <a:avLst>
              <a:gd name="adj" fmla="val 50000"/>
            </a:avLst>
          </a:prstGeom>
          <a:solidFill>
            <a:srgbClr val="0D9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60111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AUTOMATION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50976"/>
            <a:ext cx="91440" cy="475488"/>
          </a:xfrm>
          <a:prstGeom prst="rect">
            <a:avLst/>
          </a:prstGeom>
          <a:solidFill>
            <a:srgbClr val="0D9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950976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B3748"/>
                </a:solidFill>
                <a:latin typeface="Malgun Gothic"/>
              </a:rPr>
              <a:t>AI가 한 게 아니라, 제가 질문을 정의하고 검증하고 취사선택했습니다.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49377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algun Gothic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64240" cy="1270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828800"/>
            <a:ext cx="5120640" cy="15910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D"/>
            </a:solidFill>
          </a:ln>
          <a:effectLst>
            <a:outerShdw blurRad="90000" dist="34000" dir="5400000" rotWithShape="0">
              <a:srgbClr val="8FA3B8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828800"/>
            <a:ext cx="109728" cy="1591056"/>
          </a:xfrm>
          <a:prstGeom prst="rect">
            <a:avLst/>
          </a:prstGeom>
          <a:solidFill>
            <a:srgbClr val="0D9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04825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2B3748"/>
                </a:solidFill>
                <a:latin typeface="Malgun Gothic"/>
              </a:rPr>
              <a:t>경조화환 자동화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50545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7647E"/>
                </a:solidFill>
                <a:latin typeface="Malgun Gothic"/>
              </a:rPr>
              <a:t>문제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734056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Malgun Gothic"/>
              </a:rPr>
              <a:t>반복 주문·누락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0592" y="2697480"/>
            <a:ext cx="201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D9ABF"/>
                </a:solidFill>
                <a:latin typeface="Malgun Gothic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250545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7647E"/>
                </a:solidFill>
                <a:latin typeface="Malgun Gothic"/>
              </a:rPr>
              <a:t>구조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2734056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Malgun Gothic"/>
              </a:rPr>
              <a:t>신청·확인·발주 흐름 고정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2697480"/>
            <a:ext cx="201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D9ABF"/>
                </a:solidFill>
                <a:latin typeface="Malgun Gothic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1104" y="250545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7647E"/>
                </a:solidFill>
                <a:latin typeface="Malgun Gothic"/>
              </a:rPr>
              <a:t>결과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1104" y="2734056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07647E"/>
                </a:solidFill>
                <a:latin typeface="Malgun Gothic"/>
              </a:rPr>
              <a:t>휴먼에러 0 · 행정 90%↓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828800"/>
            <a:ext cx="5120640" cy="15910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D"/>
            </a:solidFill>
          </a:ln>
          <a:effectLst>
            <a:outerShdw blurRad="90000" dist="34000" dir="5400000" rotWithShape="0">
              <a:srgbClr val="8FA3B8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828800"/>
            <a:ext cx="109728" cy="1591056"/>
          </a:xfrm>
          <a:prstGeom prst="rect">
            <a:avLst/>
          </a:prstGeom>
          <a:solidFill>
            <a:srgbClr val="0D9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04825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2B3748"/>
                </a:solidFill>
                <a:latin typeface="Malgun Gothic"/>
              </a:rPr>
              <a:t>전자서명 수집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50545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7647E"/>
                </a:solidFill>
                <a:latin typeface="Malgun Gothic"/>
              </a:rPr>
              <a:t>문제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2734056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Malgun Gothic"/>
              </a:rPr>
              <a:t>550명 회수 지연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8" y="2697480"/>
            <a:ext cx="201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D9ABF"/>
                </a:solidFill>
                <a:latin typeface="Malgun Gothic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250545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7647E"/>
                </a:solidFill>
                <a:latin typeface="Malgun Gothic"/>
              </a:rPr>
              <a:t>구조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2734056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Malgun Gothic"/>
              </a:rPr>
              <a:t>대상·상태·리마인드 체계화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64624" y="2697480"/>
            <a:ext cx="201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D9ABF"/>
                </a:solidFill>
                <a:latin typeface="Malgun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250545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7647E"/>
                </a:solidFill>
                <a:latin typeface="Malgun Gothic"/>
              </a:rPr>
              <a:t>결과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2734056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07647E"/>
                </a:solidFill>
                <a:latin typeface="Malgun Gothic"/>
              </a:rPr>
              <a:t>2주 → 3일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3822191"/>
            <a:ext cx="5120640" cy="15910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D"/>
            </a:solidFill>
          </a:ln>
          <a:effectLst>
            <a:outerShdw blurRad="90000" dist="34000" dir="5400000" rotWithShape="0">
              <a:srgbClr val="8FA3B8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3232" y="3822191"/>
            <a:ext cx="109728" cy="1591056"/>
          </a:xfrm>
          <a:prstGeom prst="rect">
            <a:avLst/>
          </a:prstGeom>
          <a:solidFill>
            <a:srgbClr val="0D9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0704" y="4041648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2B3748"/>
                </a:solidFill>
                <a:latin typeface="Malgun Gothic"/>
              </a:rPr>
              <a:t>직무 키워드 분석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449884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7647E"/>
                </a:solidFill>
                <a:latin typeface="Malgun Gothic"/>
              </a:rPr>
              <a:t>문제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" y="472744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Malgun Gothic"/>
              </a:rPr>
              <a:t>정성 판단이 흔들림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50592" y="4690872"/>
            <a:ext cx="201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D9ABF"/>
                </a:solidFill>
                <a:latin typeface="Malgun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70048" y="449884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7647E"/>
                </a:solidFill>
                <a:latin typeface="Malgun Gothic"/>
              </a:rPr>
              <a:t>구조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70048" y="472744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Malgun Gothic"/>
              </a:rPr>
              <a:t>페르소나·프레임워크 고정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41648" y="4690872"/>
            <a:ext cx="201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D9ABF"/>
                </a:solidFill>
                <a:latin typeface="Malgun Gothic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61104" y="449884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7647E"/>
                </a:solidFill>
                <a:latin typeface="Malgun Gothic"/>
              </a:rPr>
              <a:t>결과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61104" y="472744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07647E"/>
                </a:solidFill>
                <a:latin typeface="Malgun Gothic"/>
              </a:rPr>
              <a:t>외부 600건+ 정량화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36208" y="3822191"/>
            <a:ext cx="5120640" cy="15910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D"/>
            </a:solidFill>
          </a:ln>
          <a:effectLst>
            <a:outerShdw blurRad="90000" dist="34000" dir="5400000" rotWithShape="0">
              <a:srgbClr val="8FA3B8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36208" y="3822191"/>
            <a:ext cx="109728" cy="1591056"/>
          </a:xfrm>
          <a:prstGeom prst="rect">
            <a:avLst/>
          </a:prstGeom>
          <a:solidFill>
            <a:srgbClr val="0D9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4041648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2B3748"/>
                </a:solidFill>
                <a:latin typeface="Malgun Gothic"/>
              </a:rPr>
              <a:t>채용 포스터 생성기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01968" y="449884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7647E"/>
                </a:solidFill>
                <a:latin typeface="Malgun Gothic"/>
              </a:rPr>
              <a:t>문제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01968" y="472744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Malgun Gothic"/>
              </a:rPr>
              <a:t>공고별 포스터 반복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73568" y="4690872"/>
            <a:ext cx="201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D9ABF"/>
                </a:solidFill>
                <a:latin typeface="Malgun Gothic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93024" y="449884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7647E"/>
                </a:solidFill>
                <a:latin typeface="Malgun Gothic"/>
              </a:rPr>
              <a:t>구조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3024" y="472744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Malgun Gothic"/>
              </a:rPr>
              <a:t>시트·AI 데이터로 생성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4690872"/>
            <a:ext cx="201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D9ABF"/>
                </a:solidFill>
                <a:latin typeface="Malgun Gothic"/>
              </a:rP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84080" y="449884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7647E"/>
                </a:solidFill>
                <a:latin typeface="Malgun Gothic"/>
              </a:rPr>
              <a:t>결과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472744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07647E"/>
                </a:solidFill>
                <a:latin typeface="Malgun Gothic"/>
              </a:rPr>
              <a:t>포스터·카피 직접 생성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6473952"/>
            <a:ext cx="11064240" cy="101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655624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Malgun Gothic"/>
              </a:rPr>
              <a:t>Interview deck · editable PPTX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57200"/>
            <a:ext cx="1373428" cy="310896"/>
          </a:xfrm>
          <a:prstGeom prst="roundRect">
            <a:avLst>
              <a:gd name="adj" fmla="val 50000"/>
            </a:avLst>
          </a:prstGeom>
          <a:solidFill>
            <a:srgbClr val="0D9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3734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PLANNING RANGE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50976"/>
            <a:ext cx="91440" cy="475488"/>
          </a:xfrm>
          <a:prstGeom prst="rect">
            <a:avLst/>
          </a:prstGeom>
          <a:solidFill>
            <a:srgbClr val="0D9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950976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B3748"/>
                </a:solidFill>
                <a:latin typeface="Malgun Gothic"/>
              </a:rPr>
              <a:t>큰 조직만 아는 게 아니라, 없는 걸 세우고 사람을 정착시켜본 사람입니다.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49377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algun Gothic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64240" cy="1270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1901952"/>
            <a:ext cx="3383280" cy="2788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D"/>
            </a:solidFill>
          </a:ln>
          <a:effectLst>
            <a:outerShdw blurRad="90000" dist="34000" dir="5400000" rotWithShape="0">
              <a:srgbClr val="8FA3B8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" y="1901952"/>
            <a:ext cx="109728" cy="2788920"/>
          </a:xfrm>
          <a:prstGeom prst="rect">
            <a:avLst/>
          </a:prstGeom>
          <a:solidFill>
            <a:srgbClr val="0D9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1945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B3748"/>
                </a:solidFill>
                <a:latin typeface="Malgun Gothic"/>
              </a:rPr>
              <a:t>공군 학군단 창설 TF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57860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D9ABF"/>
                </a:solidFill>
                <a:latin typeface="Malgun Gothic"/>
              </a:rPr>
              <a:t>0 →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20040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algun Gothic"/>
              </a:rPr>
              <a:t>조직을 처음부터 구축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algun Gothic"/>
              </a:rPr>
              <a:t>후보생 지원 100%↑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algun Gothic"/>
              </a:rPr>
              <a:t>창설 검열 미흡사항 없음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901952"/>
            <a:ext cx="3383280" cy="2788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D"/>
            </a:solidFill>
          </a:ln>
          <a:effectLst>
            <a:outerShdw blurRad="90000" dist="34000" dir="5400000" rotWithShape="0">
              <a:srgbClr val="8FA3B8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1901952"/>
            <a:ext cx="109728" cy="2788920"/>
          </a:xfrm>
          <a:prstGeom prst="rect">
            <a:avLst/>
          </a:prstGeom>
          <a:solidFill>
            <a:srgbClr val="0D9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21945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B3748"/>
                </a:solidFill>
                <a:latin typeface="Malgun Gothic"/>
              </a:rPr>
              <a:t>온보딩 개선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4" y="257860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D9ABF"/>
                </a:solidFill>
                <a:latin typeface="Malgun Gothic"/>
              </a:rPr>
              <a:t>−10%p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8304" y="320040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algun Gothic"/>
              </a:rPr>
              <a:t>수습 조기퇴사율 감소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algun Gothic"/>
              </a:rPr>
              <a:t>3개월 적응도↑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algun Gothic"/>
              </a:rPr>
              <a:t>들어온 사람이 떠나지 않는 구조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901952"/>
            <a:ext cx="3346704" cy="2788920"/>
          </a:xfrm>
          <a:prstGeom prst="roundRect">
            <a:avLst>
              <a:gd name="adj" fmla="val 7000"/>
            </a:avLst>
          </a:prstGeom>
          <a:solidFill>
            <a:srgbClr val="E6F4F8"/>
          </a:solidFill>
          <a:ln w="9525">
            <a:solidFill>
              <a:srgbClr val="A9D7E5"/>
            </a:solidFill>
          </a:ln>
          <a:effectLst>
            <a:outerShdw blurRad="90000" dist="34000" dir="5400000" rotWithShape="0">
              <a:srgbClr val="8FA3B8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901952"/>
            <a:ext cx="109728" cy="2788920"/>
          </a:xfrm>
          <a:prstGeom prst="rect">
            <a:avLst/>
          </a:prstGeom>
          <a:solidFill>
            <a:srgbClr val="076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7616" y="21945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7647E"/>
                </a:solidFill>
                <a:latin typeface="Malgun Gothic"/>
              </a:rPr>
              <a:t>Paytalab 적합성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2670048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B3748"/>
                </a:solidFill>
                <a:latin typeface="Malgun Gothic"/>
              </a:rPr>
              <a:t>성장기에는 전문가들이 깔끔한 핸드오프와 안정적 운영 리듬을 갖게 하는 역할이 핵심입니다.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40233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7647E"/>
                </a:solidFill>
                <a:latin typeface="Malgun Gothic"/>
              </a:rPr>
              <a:t>제 역할은 그 빈틈을 메우는 것입니다.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73952"/>
            <a:ext cx="11064240" cy="101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55624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Malgun Gothic"/>
              </a:rPr>
              <a:t>Interview deck · editable PPTX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57200"/>
            <a:ext cx="1525219" cy="310896"/>
          </a:xfrm>
          <a:prstGeom prst="roundRect">
            <a:avLst>
              <a:gd name="adj" fmla="val 50000"/>
            </a:avLst>
          </a:prstGeom>
          <a:solidFill>
            <a:srgbClr val="0D9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5252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CONVERSATION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50976"/>
            <a:ext cx="91440" cy="475488"/>
          </a:xfrm>
          <a:prstGeom prst="rect">
            <a:avLst/>
          </a:prstGeom>
          <a:solidFill>
            <a:srgbClr val="0D9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950976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B3748"/>
                </a:solidFill>
                <a:latin typeface="Malgun Gothic"/>
              </a:rPr>
              <a:t>더 궁금하신 부분은 여기서 직접 확인하세요.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49377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algun Gothic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91056"/>
            <a:ext cx="11064240" cy="1270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920240"/>
            <a:ext cx="4754880" cy="3429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D"/>
            </a:solidFill>
          </a:ln>
          <a:effectLst>
            <a:outerShdw blurRad="90000" dist="34000" dir="5400000" rotWithShape="0">
              <a:srgbClr val="8FA3B8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qr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752" y="2286000"/>
            <a:ext cx="1481328" cy="1481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21992" y="3895344"/>
            <a:ext cx="22128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B3748"/>
                </a:solidFill>
                <a:latin typeface="Malgun Gothic"/>
              </a:rPr>
              <a:t>공개 AI 증거 페이지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9112" y="4151376"/>
            <a:ext cx="2578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https://lucasung-debug.github.io/hermes-ops-dashboard-page/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46320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Malgun Gothic"/>
              </a:rPr>
              <a:t>운영 자동화와 증거 화면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73952" y="1920240"/>
            <a:ext cx="4754880" cy="3429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D"/>
            </a:solidFill>
          </a:ln>
          <a:effectLst>
            <a:outerShdw blurRad="90000" dist="34000" dir="5400000" rotWithShape="0">
              <a:srgbClr val="8FA3B8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qr-portfol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3" y="2286000"/>
            <a:ext cx="1481328" cy="14813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35823" y="3895344"/>
            <a:ext cx="22128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B3748"/>
                </a:solidFill>
                <a:latin typeface="Malgun Gothic"/>
              </a:rPr>
              <a:t>HR 커리어 포트폴리오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2944" y="4151376"/>
            <a:ext cx="2578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https://smjportfolio.com/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846320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Malgun Gothic"/>
              </a:rPr>
              <a:t>채용·근태·총무·기획 사례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473952"/>
            <a:ext cx="11064240" cy="101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55624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Malgun Gothic"/>
              </a:rPr>
              <a:t>QR codes are deterministic outputs from the exact URLs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